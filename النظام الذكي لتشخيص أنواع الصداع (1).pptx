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2871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42871" y="0"/>
            <a:ext cx="12191695" cy="6858000"/>
          </a:xfrm>
          <a:prstGeom prst="rect">
            <a:avLst/>
          </a:prstGeom>
          <a:solidFill>
            <a:srgbClr val="FEFEFE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084" y="1492363"/>
            <a:ext cx="685782" cy="520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5567" y="2495550"/>
            <a:ext cx="5314817" cy="1333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2080"/>
              </a:spcAft>
            </a:pPr>
            <a:r>
              <a:rPr sz="3348" b="1">
                <a:solidFill>
                  <a:srgbClr val="1A1A1A"/>
                </a:solidFill>
                <a:latin typeface="Cairo"/>
              </a:rPr>
              <a:t> النظام الذكي لتشخيص</a:t>
            </a:r>
            <a:r>
              <a:rPr sz="1104"/>
              <a:t>
</a:t>
            </a:r>
            <a:r>
              <a:rPr sz="3348" b="1">
                <a:solidFill>
                  <a:srgbClr val="1A1A1A"/>
                </a:solidFill>
                <a:latin typeface="Cairo"/>
              </a:rPr>
              <a:t>أنواع الصداع 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4221" y="4133849"/>
            <a:ext cx="3657508" cy="38100"/>
          </a:xfrm>
          <a:prstGeom prst="rect">
            <a:avLst/>
          </a:prstGeom>
          <a:solidFill>
            <a:srgbClr val="44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86142" y="4476750"/>
            <a:ext cx="3333666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3120"/>
              </a:spcAft>
            </a:pPr>
            <a:r>
              <a:rPr sz="2152" b="0" dirty="0" err="1">
                <a:solidFill>
                  <a:srgbClr val="44B54B"/>
                </a:solidFill>
                <a:latin typeface="Tajawal"/>
              </a:rPr>
              <a:t>مشروع</a:t>
            </a:r>
            <a:r>
              <a:rPr sz="2152" b="0" dirty="0">
                <a:solidFill>
                  <a:srgbClr val="44B54B"/>
                </a:solidFill>
                <a:latin typeface="Tajawal"/>
              </a:rPr>
              <a:t> </a:t>
            </a:r>
            <a:r>
              <a:rPr sz="2152" b="0" dirty="0" err="1">
                <a:solidFill>
                  <a:srgbClr val="44B54B"/>
                </a:solidFill>
                <a:latin typeface="Tajawal"/>
              </a:rPr>
              <a:t>الأنظمة</a:t>
            </a:r>
            <a:r>
              <a:rPr sz="2152" b="0" dirty="0">
                <a:solidFill>
                  <a:srgbClr val="44B54B"/>
                </a:solidFill>
                <a:latin typeface="Tajawal"/>
              </a:rPr>
              <a:t> </a:t>
            </a:r>
            <a:r>
              <a:rPr sz="2152" b="0" dirty="0" err="1">
                <a:solidFill>
                  <a:srgbClr val="44B54B"/>
                </a:solidFill>
                <a:latin typeface="Tajawal"/>
              </a:rPr>
              <a:t>الخبيرة</a:t>
            </a:r>
            <a:endParaRPr sz="2152" b="0" dirty="0">
              <a:solidFill>
                <a:srgbClr val="44B54B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29375" y="5510661"/>
            <a:ext cx="203767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 rtl="1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2000" b="0" dirty="0" err="1">
                <a:solidFill>
                  <a:srgbClr val="4A4A4A"/>
                </a:solidFill>
                <a:latin typeface="Tajawal"/>
              </a:rPr>
              <a:t>اسم</a:t>
            </a:r>
            <a:r>
              <a:rPr sz="20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2000" b="0" dirty="0" err="1">
                <a:solidFill>
                  <a:srgbClr val="4A4A4A"/>
                </a:solidFill>
                <a:latin typeface="Tajawal"/>
              </a:rPr>
              <a:t>الطالب</a:t>
            </a:r>
            <a:r>
              <a:rPr sz="2000" b="0" dirty="0">
                <a:solidFill>
                  <a:srgbClr val="4A4A4A"/>
                </a:solidFill>
                <a:latin typeface="Tajawal"/>
              </a:rPr>
              <a:t>: </a:t>
            </a:r>
            <a:r>
              <a:rPr sz="2000" b="1" dirty="0" err="1">
                <a:solidFill>
                  <a:srgbClr val="44B54B"/>
                </a:solidFill>
                <a:latin typeface="Tajawal"/>
              </a:rPr>
              <a:t>إياد</a:t>
            </a:r>
            <a:r>
              <a:rPr sz="2000" b="1" dirty="0">
                <a:solidFill>
                  <a:srgbClr val="44B54B"/>
                </a:solidFill>
                <a:latin typeface="Tajawal"/>
              </a:rPr>
              <a:t> </a:t>
            </a:r>
            <a:r>
              <a:rPr sz="2000" b="1" dirty="0" err="1">
                <a:solidFill>
                  <a:srgbClr val="44B54B"/>
                </a:solidFill>
                <a:latin typeface="Tajawal"/>
              </a:rPr>
              <a:t>محمد</a:t>
            </a:r>
            <a:r>
              <a:rPr sz="2000" b="1" dirty="0">
                <a:solidFill>
                  <a:srgbClr val="44B54B"/>
                </a:solidFill>
                <a:latin typeface="Tajawal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1370" y="5901186"/>
            <a:ext cx="247369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 rtl="1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اسم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المشرف</a:t>
            </a:r>
            <a:r>
              <a:rPr b="0" dirty="0">
                <a:solidFill>
                  <a:srgbClr val="4A4A4A"/>
                </a:solidFill>
                <a:latin typeface="Tajawal"/>
              </a:rPr>
              <a:t>: </a:t>
            </a:r>
            <a:r>
              <a:rPr b="1" dirty="0">
                <a:solidFill>
                  <a:srgbClr val="44B54B"/>
                </a:solidFill>
                <a:latin typeface="Tajawal"/>
              </a:rPr>
              <a:t>م/ </a:t>
            </a:r>
            <a:r>
              <a:rPr b="1" dirty="0" err="1">
                <a:solidFill>
                  <a:srgbClr val="44B54B"/>
                </a:solidFill>
                <a:latin typeface="Tajawal"/>
              </a:rPr>
              <a:t>خالد</a:t>
            </a:r>
            <a:r>
              <a:rPr lang="ar-SY" b="1" dirty="0">
                <a:solidFill>
                  <a:srgbClr val="44B54B"/>
                </a:solidFill>
                <a:latin typeface="Tajawal"/>
              </a:rPr>
              <a:t> إسماعيل </a:t>
            </a:r>
            <a:endParaRPr b="1" dirty="0">
              <a:solidFill>
                <a:srgbClr val="44B54B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52976" y="0"/>
            <a:ext cx="6095847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52976" y="6115050"/>
            <a:ext cx="6095847" cy="742950"/>
          </a:xfrm>
          <a:prstGeom prst="rect">
            <a:avLst/>
          </a:prstGeom>
          <a:gradFill rotWithShape="1">
            <a:gsLst>
              <a:gs pos="0">
                <a:srgbClr val="FEFEFE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57768" y="6343650"/>
            <a:ext cx="548626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4A4A"/>
                </a:solidFill>
                <a:latin typeface="Tajawal"/>
              </a:rPr>
              <a:t>أنواع الصداع المختلفة</a:t>
            </a:r>
          </a:p>
        </p:txBody>
      </p:sp>
      <p:sp>
        <p:nvSpPr>
          <p:cNvPr id="5" name="Rectangle 4"/>
          <p:cNvSpPr/>
          <p:nvPr/>
        </p:nvSpPr>
        <p:spPr>
          <a:xfrm>
            <a:off x="-142871" y="0"/>
            <a:ext cx="6095847" cy="809625"/>
          </a:xfrm>
          <a:prstGeom prst="rect">
            <a:avLst/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14477" y="171450"/>
            <a:ext cx="358131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A1A1A"/>
                </a:solidFill>
                <a:latin typeface="Cairo"/>
              </a:rPr>
              <a:t>المشكلة وأهداف المشروع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896" y="1670816"/>
            <a:ext cx="342891" cy="277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7288" y="1614183"/>
            <a:ext cx="723211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 rtl="1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المشكلة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4317" y="2095499"/>
            <a:ext cx="4686182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r" rtl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الصداع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أكثر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الشكاوى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الطبية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شيوعاً</a:t>
            </a:r>
            <a:r>
              <a:rPr b="0" dirty="0">
                <a:solidFill>
                  <a:srgbClr val="4A4A4A"/>
                </a:solidFill>
                <a:latin typeface="Tajawal"/>
              </a:rPr>
              <a:t>،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لكن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التشخيص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الدقيق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صعب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بسبب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تداخل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الأعراض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بين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الأنواع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المختل</a:t>
            </a:r>
            <a:r>
              <a:rPr lang="ar-SY" dirty="0" err="1">
                <a:solidFill>
                  <a:srgbClr val="4A4A4A"/>
                </a:solidFill>
                <a:latin typeface="Tajawal"/>
              </a:rPr>
              <a:t>فة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الشقيقة</a:t>
            </a:r>
            <a:r>
              <a:rPr b="0" dirty="0">
                <a:solidFill>
                  <a:srgbClr val="4A4A4A"/>
                </a:solidFill>
                <a:latin typeface="Tajawal"/>
              </a:rPr>
              <a:t>،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التوتري</a:t>
            </a:r>
            <a:r>
              <a:rPr b="0" dirty="0">
                <a:solidFill>
                  <a:srgbClr val="4A4A4A"/>
                </a:solidFill>
                <a:latin typeface="Tajawal"/>
              </a:rPr>
              <a:t>،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العنقودي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4317" y="3528709"/>
            <a:ext cx="1332352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أهداف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المشروع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81250" y="4124324"/>
            <a:ext cx="2514537" cy="876299"/>
          </a:xfrm>
          <a:prstGeom prst="roundRect">
            <a:avLst>
              <a:gd name="adj" fmla="val 17391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599" y="4433521"/>
            <a:ext cx="304792" cy="2579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33646" y="4384638"/>
            <a:ext cx="2362141" cy="3556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A1A1A"/>
                </a:solidFill>
                <a:latin typeface="Tajawal"/>
              </a:rPr>
              <a:t>أتمتة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عملية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التشخيص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الطبي</a:t>
            </a:r>
            <a:endParaRPr sz="1600" b="0" dirty="0">
              <a:solidFill>
                <a:srgbClr val="1A1A1A"/>
              </a:solidFill>
              <a:latin typeface="Tajaw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4317" y="4124324"/>
            <a:ext cx="2514537" cy="876299"/>
          </a:xfrm>
          <a:prstGeom prst="roundRect">
            <a:avLst>
              <a:gd name="adj" fmla="val 17391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1665" y="4433521"/>
            <a:ext cx="304792" cy="2579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4317" y="4346157"/>
            <a:ext cx="2209744" cy="3556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A1A1A"/>
                </a:solidFill>
                <a:latin typeface="Tajawal"/>
              </a:rPr>
              <a:t>واجهة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مستخدم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تفاعلية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بالعربية</a:t>
            </a:r>
            <a:endParaRPr sz="1600" b="0" dirty="0">
              <a:solidFill>
                <a:srgbClr val="1A1A1A"/>
              </a:solidFill>
              <a:latin typeface="Tajaw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981250" y="5153024"/>
            <a:ext cx="2514537" cy="876299"/>
          </a:xfrm>
          <a:prstGeom prst="roundRect">
            <a:avLst>
              <a:gd name="adj" fmla="val 17391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8599" y="5473944"/>
            <a:ext cx="304792" cy="2344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62241" y="5243817"/>
            <a:ext cx="1790655" cy="61215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A1A1A"/>
                </a:solidFill>
                <a:latin typeface="Tajawal"/>
              </a:rPr>
              <a:t>آلية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تشخيص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ذكية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معتمدة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على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الترجيح</a:t>
            </a:r>
            <a:endParaRPr sz="1600" b="0" dirty="0">
              <a:solidFill>
                <a:srgbClr val="1A1A1A"/>
              </a:solidFill>
              <a:latin typeface="Tajaw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4317" y="5153024"/>
            <a:ext cx="2514537" cy="876299"/>
          </a:xfrm>
          <a:prstGeom prst="roundRect">
            <a:avLst>
              <a:gd name="adj" fmla="val 17391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1665" y="5473944"/>
            <a:ext cx="304792" cy="234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7681" y="5229222"/>
            <a:ext cx="2476439" cy="61215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A1A1A"/>
                </a:solidFill>
                <a:latin typeface="Tajawal"/>
              </a:rPr>
              <a:t>دمج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مكون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التثقيف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ajawal"/>
              </a:rPr>
              <a:t>الصحي</a:t>
            </a:r>
            <a:r>
              <a:rPr sz="1600" b="0" dirty="0">
                <a:solidFill>
                  <a:srgbClr val="1A1A1A"/>
                </a:solidFill>
                <a:latin typeface="Tajawal"/>
              </a:rPr>
              <a:t> </a:t>
            </a:r>
            <a:r>
              <a:rPr lang="ar-SY" sz="1600" dirty="0">
                <a:solidFill>
                  <a:srgbClr val="1A1A1A"/>
                </a:solidFill>
                <a:latin typeface="Tajawal"/>
              </a:rPr>
              <a:t> مع الذكاء الصنعي</a:t>
            </a:r>
            <a:endParaRPr sz="1600" b="0" dirty="0">
              <a:solidFill>
                <a:srgbClr val="1A1A1A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2560" y="0"/>
            <a:ext cx="5486262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62560" y="6115050"/>
            <a:ext cx="5486262" cy="742950"/>
          </a:xfrm>
          <a:prstGeom prst="rect">
            <a:avLst/>
          </a:prstGeom>
          <a:gradFill rotWithShape="1">
            <a:gsLst>
              <a:gs pos="0">
                <a:srgbClr val="FEFEFE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67353" y="6343650"/>
            <a:ext cx="487667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4A4A"/>
                </a:solidFill>
                <a:latin typeface="Tajawal"/>
              </a:rPr>
              <a:t>قاعدة المعرفة ومحرك الاستدلال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-142871" y="0"/>
            <a:ext cx="6705432" cy="809625"/>
          </a:xfrm>
          <a:prstGeom prst="rect">
            <a:avLst/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90875" y="171450"/>
            <a:ext cx="2114497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A1A1A"/>
                </a:solidFill>
                <a:latin typeface="Cairo"/>
              </a:rPr>
              <a:t>الهيكل البرمجي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821" y="1533525"/>
            <a:ext cx="5791055" cy="1143000"/>
          </a:xfrm>
          <a:prstGeom prst="roundRect">
            <a:avLst>
              <a:gd name="adj" fmla="val 13333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787" y="1895747"/>
            <a:ext cx="419089" cy="3233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61614" y="1608931"/>
            <a:ext cx="705578" cy="4103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الحقائق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434" y="2105025"/>
            <a:ext cx="2295758" cy="3652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 rtl="1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4A4A4A"/>
                </a:solidFill>
                <a:latin typeface="Tajawal"/>
              </a:rPr>
              <a:t>17 </a:t>
            </a:r>
            <a:r>
              <a:rPr lang="ar-SY"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lang="ar-SY" sz="1600" dirty="0">
                <a:solidFill>
                  <a:srgbClr val="4A4A4A"/>
                </a:solidFill>
                <a:latin typeface="Tajawal"/>
              </a:rPr>
              <a:t>حقيقة يتم اخذها من المريض</a:t>
            </a:r>
            <a:endParaRPr sz="1600"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4317" y="2905124"/>
            <a:ext cx="5791055" cy="1143000"/>
          </a:xfrm>
          <a:prstGeom prst="roundRect">
            <a:avLst>
              <a:gd name="adj" fmla="val 13333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787" y="3282315"/>
            <a:ext cx="419089" cy="2933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33815" y="2983229"/>
            <a:ext cx="47623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 dirty="0" err="1">
                <a:solidFill>
                  <a:srgbClr val="44B54B"/>
                </a:solidFill>
                <a:latin typeface="Cairo"/>
              </a:rPr>
              <a:t>القواعد</a:t>
            </a:r>
            <a:endParaRPr sz="1554"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2315" y="3435610"/>
            <a:ext cx="325057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 rtl="1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4A4A4A"/>
                </a:solidFill>
                <a:latin typeface="Tajawal"/>
              </a:rPr>
              <a:t>29 </a:t>
            </a:r>
            <a:r>
              <a:rPr lang="ar-SY"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قاعدة</a:t>
            </a:r>
            <a:r>
              <a:rPr lang="ar-SY"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lang="ar-SY" b="0" dirty="0">
                <a:solidFill>
                  <a:srgbClr val="4A4A4A"/>
                </a:solidFill>
                <a:latin typeface="Tajawal"/>
              </a:rPr>
              <a:t>برمجية</a:t>
            </a:r>
            <a:r>
              <a:rPr b="0" dirty="0">
                <a:solidFill>
                  <a:srgbClr val="4A4A4A"/>
                </a:solidFill>
                <a:latin typeface="Tajawal"/>
              </a:rPr>
              <a:t> @Rule decorators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4141" y="4276725"/>
            <a:ext cx="2781230" cy="1866899"/>
          </a:xfrm>
          <a:prstGeom prst="roundRect">
            <a:avLst>
              <a:gd name="adj" fmla="val 8163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3886" y="4511873"/>
            <a:ext cx="380990" cy="2917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48043" y="4454849"/>
            <a:ext cx="1027782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44B54B"/>
                </a:solidFill>
                <a:latin typeface="Cairo"/>
              </a:rPr>
              <a:t>نظام</a:t>
            </a:r>
            <a:r>
              <a:rPr sz="2000" b="1" dirty="0">
                <a:solidFill>
                  <a:srgbClr val="44B54B"/>
                </a:solidFill>
                <a:latin typeface="Cairo"/>
              </a:rPr>
              <a:t> </a:t>
            </a:r>
            <a:r>
              <a:rPr sz="2000" b="1" dirty="0" err="1">
                <a:solidFill>
                  <a:srgbClr val="44B54B"/>
                </a:solidFill>
                <a:latin typeface="Cairo"/>
              </a:rPr>
              <a:t>النقاط</a:t>
            </a:r>
            <a:endParaRPr sz="2000"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14637" y="4967736"/>
            <a:ext cx="203286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توزيع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الأوزان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لكل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عرض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14637" y="5534025"/>
            <a:ext cx="2400239" cy="409574"/>
          </a:xfrm>
          <a:prstGeom prst="roundRect">
            <a:avLst>
              <a:gd name="adj" fmla="val 18604"/>
            </a:avLst>
          </a:prstGeom>
          <a:solidFill>
            <a:srgbClr val="44B54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14637" y="5567290"/>
            <a:ext cx="2100190" cy="3430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 rtl="1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b="0" dirty="0" err="1">
                <a:solidFill>
                  <a:srgbClr val="44B54B"/>
                </a:solidFill>
                <a:latin typeface="Tajawal"/>
              </a:rPr>
              <a:t>مثال</a:t>
            </a:r>
            <a:r>
              <a:rPr b="0" dirty="0">
                <a:solidFill>
                  <a:srgbClr val="44B54B"/>
                </a:solidFill>
                <a:latin typeface="Tajawal"/>
              </a:rPr>
              <a:t>: </a:t>
            </a:r>
            <a:r>
              <a:rPr b="0" dirty="0" err="1">
                <a:solidFill>
                  <a:srgbClr val="44B54B"/>
                </a:solidFill>
                <a:latin typeface="Tajawal"/>
              </a:rPr>
              <a:t>تيبس</a:t>
            </a:r>
            <a:r>
              <a:rPr b="0" dirty="0">
                <a:solidFill>
                  <a:srgbClr val="44B54B"/>
                </a:solidFill>
                <a:latin typeface="Tajawal"/>
              </a:rPr>
              <a:t> </a:t>
            </a:r>
            <a:r>
              <a:rPr b="0" dirty="0" err="1">
                <a:solidFill>
                  <a:srgbClr val="44B54B"/>
                </a:solidFill>
                <a:latin typeface="Tajawal"/>
              </a:rPr>
              <a:t>الرقبة</a:t>
            </a:r>
            <a:r>
              <a:rPr b="0" dirty="0">
                <a:solidFill>
                  <a:srgbClr val="44B54B"/>
                </a:solidFill>
                <a:latin typeface="Tajawal"/>
              </a:rPr>
              <a:t> = 4 </a:t>
            </a:r>
            <a:r>
              <a:rPr b="0" dirty="0" err="1">
                <a:solidFill>
                  <a:srgbClr val="44B54B"/>
                </a:solidFill>
                <a:latin typeface="Tajawal"/>
              </a:rPr>
              <a:t>نقاط</a:t>
            </a:r>
            <a:endParaRPr b="0" dirty="0">
              <a:solidFill>
                <a:srgbClr val="44B54B"/>
              </a:solidFill>
              <a:latin typeface="Tajaw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14317" y="4276725"/>
            <a:ext cx="2781230" cy="1866899"/>
          </a:xfrm>
          <a:prstGeom prst="roundRect">
            <a:avLst>
              <a:gd name="adj" fmla="val 8163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4061" y="4504432"/>
            <a:ext cx="380990" cy="3065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377" y="4462159"/>
            <a:ext cx="1226554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كشف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الطوارئ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812" y="4967736"/>
            <a:ext cx="165455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فحص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التهاب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السحايا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4812" y="5534025"/>
            <a:ext cx="2400239" cy="409574"/>
          </a:xfrm>
          <a:prstGeom prst="roundRect">
            <a:avLst>
              <a:gd name="adj" fmla="val 18604"/>
            </a:avLst>
          </a:prstGeom>
          <a:solidFill>
            <a:srgbClr val="44B54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4812" y="5563988"/>
            <a:ext cx="1864549" cy="3496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2000" b="0" dirty="0">
                <a:solidFill>
                  <a:srgbClr val="44B54B"/>
                </a:solidFill>
                <a:latin typeface="Tajawal"/>
              </a:rPr>
              <a:t>5+ </a:t>
            </a:r>
            <a:r>
              <a:rPr sz="2000" b="0" dirty="0" err="1">
                <a:solidFill>
                  <a:srgbClr val="44B54B"/>
                </a:solidFill>
                <a:latin typeface="Tajawal"/>
              </a:rPr>
              <a:t>نقاط</a:t>
            </a:r>
            <a:r>
              <a:rPr sz="2000" b="0" dirty="0">
                <a:solidFill>
                  <a:srgbClr val="44B54B"/>
                </a:solidFill>
                <a:latin typeface="Tajawal"/>
              </a:rPr>
              <a:t> = </a:t>
            </a:r>
            <a:r>
              <a:rPr sz="2000" b="0" dirty="0" err="1">
                <a:solidFill>
                  <a:srgbClr val="44B54B"/>
                </a:solidFill>
                <a:latin typeface="Tajawal"/>
              </a:rPr>
              <a:t>تنبيه</a:t>
            </a:r>
            <a:r>
              <a:rPr sz="2000" b="0" dirty="0">
                <a:solidFill>
                  <a:srgbClr val="44B54B"/>
                </a:solidFill>
                <a:latin typeface="Tajawal"/>
              </a:rPr>
              <a:t> </a:t>
            </a:r>
            <a:r>
              <a:rPr sz="2000" b="0" dirty="0" err="1">
                <a:solidFill>
                  <a:srgbClr val="44B54B"/>
                </a:solidFill>
                <a:latin typeface="Tajawal"/>
              </a:rPr>
              <a:t>أحمر</a:t>
            </a:r>
            <a:endParaRPr sz="2000" b="0" dirty="0">
              <a:solidFill>
                <a:srgbClr val="44B54B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00619" y="0"/>
            <a:ext cx="5848203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00619" y="6115050"/>
            <a:ext cx="5848203" cy="742950"/>
          </a:xfrm>
          <a:prstGeom prst="rect">
            <a:avLst/>
          </a:prstGeom>
          <a:gradFill rotWithShape="1">
            <a:gsLst>
              <a:gs pos="0">
                <a:srgbClr val="FEFEFE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5412" y="6343650"/>
            <a:ext cx="523861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4A4A"/>
                </a:solidFill>
                <a:latin typeface="Tajawal"/>
              </a:rPr>
              <a:t>واجهة تفاعلية سهلة الاستخدام</a:t>
            </a:r>
          </a:p>
        </p:txBody>
      </p:sp>
      <p:sp>
        <p:nvSpPr>
          <p:cNvPr id="5" name="Rectangle 4"/>
          <p:cNvSpPr/>
          <p:nvPr/>
        </p:nvSpPr>
        <p:spPr>
          <a:xfrm>
            <a:off x="-142871" y="0"/>
            <a:ext cx="6343491" cy="628650"/>
          </a:xfrm>
          <a:prstGeom prst="rect">
            <a:avLst/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95447" y="85725"/>
            <a:ext cx="3647983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A1A1A"/>
                </a:solidFill>
                <a:latin typeface="Cairo"/>
              </a:rPr>
              <a:t>واجهة المستخدم الرسومية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17" y="933449"/>
            <a:ext cx="5429114" cy="1104900"/>
          </a:xfrm>
          <a:prstGeom prst="roundRect">
            <a:avLst>
              <a:gd name="adj" fmla="val 13793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797" y="1321234"/>
            <a:ext cx="438139" cy="234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62060" y="1093987"/>
            <a:ext cx="2535246" cy="431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lang="ar-SY" sz="2400" b="1" dirty="0">
                <a:solidFill>
                  <a:srgbClr val="44B54B"/>
                </a:solidFill>
                <a:latin typeface="Cairo"/>
              </a:rPr>
              <a:t> </a:t>
            </a:r>
            <a:r>
              <a:rPr sz="2400" b="1" dirty="0" err="1">
                <a:solidFill>
                  <a:srgbClr val="44B54B"/>
                </a:solidFill>
                <a:latin typeface="Cairo"/>
              </a:rPr>
              <a:t>مبنية</a:t>
            </a:r>
            <a:r>
              <a:rPr sz="2400" b="1" dirty="0">
                <a:solidFill>
                  <a:srgbClr val="44B54B"/>
                </a:solidFill>
                <a:latin typeface="Cairo"/>
              </a:rPr>
              <a:t> </a:t>
            </a:r>
            <a:r>
              <a:rPr sz="2400" b="1" dirty="0" err="1">
                <a:solidFill>
                  <a:srgbClr val="44B54B"/>
                </a:solidFill>
                <a:latin typeface="Cairo"/>
              </a:rPr>
              <a:t>باستخدام</a:t>
            </a:r>
            <a:r>
              <a:rPr sz="2400" b="1" dirty="0">
                <a:solidFill>
                  <a:srgbClr val="44B54B"/>
                </a:solidFill>
                <a:latin typeface="Cairo"/>
              </a:rPr>
              <a:t> PyQt6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2060" y="1500636"/>
            <a:ext cx="290810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إطار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عمل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قوي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لتطبيقات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سطح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المكتب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24121" y="2228850"/>
            <a:ext cx="2619309" cy="1390650"/>
          </a:xfrm>
          <a:prstGeom prst="roundRect">
            <a:avLst>
              <a:gd name="adj" fmla="val 10958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896" y="2754004"/>
            <a:ext cx="400039" cy="3403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43231" y="2566683"/>
            <a:ext cx="1047018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اللغة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العربية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43231" y="2931035"/>
            <a:ext cx="115762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واجهة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بالكامل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14317" y="2228850"/>
            <a:ext cx="2619309" cy="1390650"/>
          </a:xfrm>
          <a:prstGeom prst="roundRect">
            <a:avLst>
              <a:gd name="adj" fmla="val 10958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3091" y="2801771"/>
            <a:ext cx="400039" cy="24480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4812" y="2566682"/>
            <a:ext cx="1585627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تصنيف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الموضوعي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4812" y="3102485"/>
            <a:ext cx="1021370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أسئلة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منظمة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14317" y="3809999"/>
            <a:ext cx="5429114" cy="1447800"/>
          </a:xfrm>
          <a:prstGeom prst="roundRect">
            <a:avLst>
              <a:gd name="adj" fmla="val 10526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3846" y="4068365"/>
            <a:ext cx="380990" cy="3214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47863" y="4019152"/>
            <a:ext cx="1826077" cy="4103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ألوان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ديناميكية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تفاعلية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57648" y="45720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319" y="4622763"/>
            <a:ext cx="1768369" cy="355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4A4A4A"/>
                </a:solidFill>
                <a:latin typeface="Tajawal"/>
              </a:rPr>
              <a:t>أخضر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للإجابات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الإيجابية</a:t>
            </a:r>
            <a:endParaRPr sz="1600"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514537" y="45720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2456" y="4622763"/>
            <a:ext cx="1553567" cy="355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4A4A4A"/>
                </a:solidFill>
                <a:latin typeface="Tajawal"/>
              </a:rPr>
              <a:t>أحمر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للإجابات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السلبية</a:t>
            </a:r>
            <a:endParaRPr sz="1600"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14317" y="5448300"/>
            <a:ext cx="5429114" cy="1104900"/>
          </a:xfrm>
          <a:prstGeom prst="roundRect">
            <a:avLst>
              <a:gd name="adj" fmla="val 13793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4797" y="5847697"/>
            <a:ext cx="438139" cy="3061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124021" y="5619352"/>
            <a:ext cx="1271438" cy="4103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تصميم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متجاوب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24021" y="6022891"/>
            <a:ext cx="2170722" cy="3652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4A4A4A"/>
                </a:solidFill>
                <a:latin typeface="Tajawal"/>
              </a:rPr>
              <a:t>يعمل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على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جميع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أحجام</a:t>
            </a:r>
            <a:r>
              <a:rPr sz="1600" b="0" dirty="0">
                <a:solidFill>
                  <a:srgbClr val="4A4A4A"/>
                </a:solidFill>
                <a:latin typeface="Tajawal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Tajawal"/>
              </a:rPr>
              <a:t>الشاشات</a:t>
            </a:r>
            <a:endParaRPr sz="1600" b="0" dirty="0">
              <a:solidFill>
                <a:srgbClr val="4A4A4A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24501" y="0"/>
            <a:ext cx="512432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924501" y="6115050"/>
            <a:ext cx="5124321" cy="742950"/>
          </a:xfrm>
          <a:prstGeom prst="rect">
            <a:avLst/>
          </a:prstGeom>
          <a:gradFill rotWithShape="1">
            <a:gsLst>
              <a:gs pos="0">
                <a:srgbClr val="FEFEFE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29294" y="6343650"/>
            <a:ext cx="451473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4A4A"/>
                </a:solidFill>
                <a:latin typeface="Tajawal"/>
              </a:rPr>
              <a:t>سير عمل التشخيص الطبي</a:t>
            </a:r>
          </a:p>
        </p:txBody>
      </p:sp>
      <p:sp>
        <p:nvSpPr>
          <p:cNvPr id="5" name="Rectangle 4"/>
          <p:cNvSpPr/>
          <p:nvPr/>
        </p:nvSpPr>
        <p:spPr>
          <a:xfrm>
            <a:off x="-142871" y="0"/>
            <a:ext cx="7067373" cy="809625"/>
          </a:xfrm>
          <a:prstGeom prst="rect">
            <a:avLst/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86142" y="171450"/>
            <a:ext cx="218117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A1A1A"/>
                </a:solidFill>
                <a:latin typeface="Cairo"/>
              </a:rPr>
              <a:t>عملية التشخيص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6062" y="1219200"/>
            <a:ext cx="2981250" cy="1343025"/>
          </a:xfrm>
          <a:prstGeom prst="roundRect">
            <a:avLst>
              <a:gd name="adj" fmla="val 11347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57728" y="1371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4B5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19649" y="1419225"/>
            <a:ext cx="13334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4B54B"/>
                </a:solidFill>
                <a:latin typeface="Cair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858" y="1248256"/>
            <a:ext cx="1077474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 rtl="1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جمع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البيانات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21515" y="1720645"/>
            <a:ext cx="2066873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جمع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خصائص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الصداع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والأعراض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المصاحبة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4317" y="1219200"/>
            <a:ext cx="2981250" cy="1343025"/>
          </a:xfrm>
          <a:prstGeom prst="roundRect">
            <a:avLst>
              <a:gd name="adj" fmla="val 11347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85982" y="1371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4B5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47903" y="1419225"/>
            <a:ext cx="13334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4B54B"/>
                </a:solidFill>
                <a:latin typeface="Cair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6564" y="1248256"/>
            <a:ext cx="1178464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محرك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القواعد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9565" y="1733997"/>
            <a:ext cx="2676457" cy="38010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نظام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النقاط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يحلل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البيانات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المدخلة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86062" y="2752725"/>
            <a:ext cx="2981250" cy="1343025"/>
          </a:xfrm>
          <a:prstGeom prst="roundRect">
            <a:avLst>
              <a:gd name="adj" fmla="val 11347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57728" y="2905124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4B5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9649" y="2952750"/>
            <a:ext cx="13334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4B54B"/>
                </a:solidFill>
                <a:latin typeface="Cair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459" y="2881008"/>
            <a:ext cx="1096710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فرز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الطوارئ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38459" y="3309083"/>
            <a:ext cx="2600259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فحص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الحالات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الحرجة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مثل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التهاب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السحايا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4317" y="2752725"/>
            <a:ext cx="2981250" cy="1343025"/>
          </a:xfrm>
          <a:prstGeom prst="roundRect">
            <a:avLst>
              <a:gd name="adj" fmla="val 11347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685982" y="2905124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4B5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47903" y="2952750"/>
            <a:ext cx="13334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4B54B"/>
                </a:solidFill>
                <a:latin typeface="Cair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13" y="2881008"/>
            <a:ext cx="1149610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القرار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النهائي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6713" y="3309083"/>
            <a:ext cx="2514536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ترتيب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النتائج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وتحديد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التشخيص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الأرجح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  <p:sp>
        <p:nvSpPr>
          <p:cNvPr id="35" name="Rounded Rectangle 26">
            <a:extLst>
              <a:ext uri="{FF2B5EF4-FFF2-40B4-BE49-F238E27FC236}">
                <a16:creationId xmlns:a16="http://schemas.microsoft.com/office/drawing/2014/main" id="{738DAC74-4613-42FE-9C52-3FEA01F6C2B5}"/>
              </a:ext>
            </a:extLst>
          </p:cNvPr>
          <p:cNvSpPr/>
          <p:nvPr/>
        </p:nvSpPr>
        <p:spPr>
          <a:xfrm>
            <a:off x="314316" y="4452083"/>
            <a:ext cx="6152996" cy="1114425"/>
          </a:xfrm>
          <a:prstGeom prst="roundRect">
            <a:avLst>
              <a:gd name="adj" fmla="val 13675"/>
            </a:avLst>
          </a:prstGeom>
          <a:solidFill>
            <a:srgbClr val="44B5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F323EC27-FC6B-4549-8A2F-E627994E9E9F}"/>
              </a:ext>
            </a:extLst>
          </p:cNvPr>
          <p:cNvSpPr/>
          <p:nvPr/>
        </p:nvSpPr>
        <p:spPr>
          <a:xfrm>
            <a:off x="5968273" y="462308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4B5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3C558F-2347-4D66-A838-0716FB6D9980}"/>
              </a:ext>
            </a:extLst>
          </p:cNvPr>
          <p:cNvSpPr txBox="1"/>
          <p:nvPr/>
        </p:nvSpPr>
        <p:spPr>
          <a:xfrm>
            <a:off x="6130194" y="4670710"/>
            <a:ext cx="13334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4B54B"/>
                </a:solidFill>
                <a:latin typeface="Cairo"/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968CBA-CD29-44EF-97C9-0C4B6BA709D3}"/>
              </a:ext>
            </a:extLst>
          </p:cNvPr>
          <p:cNvSpPr txBox="1"/>
          <p:nvPr/>
        </p:nvSpPr>
        <p:spPr>
          <a:xfrm>
            <a:off x="653456" y="4598969"/>
            <a:ext cx="1144801" cy="3911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b="1" dirty="0" err="1">
                <a:solidFill>
                  <a:srgbClr val="44B54B"/>
                </a:solidFill>
                <a:latin typeface="Cairo"/>
              </a:rPr>
              <a:t>عرض</a:t>
            </a:r>
            <a:r>
              <a:rPr b="1" dirty="0">
                <a:solidFill>
                  <a:srgbClr val="44B54B"/>
                </a:solidFill>
                <a:latin typeface="Cairo"/>
              </a:rPr>
              <a:t> </a:t>
            </a:r>
            <a:r>
              <a:rPr b="1" dirty="0" err="1">
                <a:solidFill>
                  <a:srgbClr val="44B54B"/>
                </a:solidFill>
                <a:latin typeface="Cairo"/>
              </a:rPr>
              <a:t>النتائج</a:t>
            </a:r>
            <a:endParaRPr b="1" dirty="0">
              <a:solidFill>
                <a:srgbClr val="44B54B"/>
              </a:solidFill>
              <a:latin typeface="Cairo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FC13C6-1AC9-4432-B088-E31913A9611B}"/>
              </a:ext>
            </a:extLst>
          </p:cNvPr>
          <p:cNvSpPr txBox="1"/>
          <p:nvPr/>
        </p:nvSpPr>
        <p:spPr>
          <a:xfrm>
            <a:off x="653456" y="5009296"/>
            <a:ext cx="378815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4A4A4A"/>
                </a:solidFill>
                <a:latin typeface="Tajawal"/>
              </a:rPr>
              <a:t>التشخيص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مع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التبرير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المنطقي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والتوصيات</a:t>
            </a:r>
            <a:r>
              <a:rPr b="0" dirty="0">
                <a:solidFill>
                  <a:srgbClr val="4A4A4A"/>
                </a:solidFill>
                <a:latin typeface="Tajawal"/>
              </a:rPr>
              <a:t> </a:t>
            </a:r>
            <a:r>
              <a:rPr b="0" dirty="0" err="1">
                <a:solidFill>
                  <a:srgbClr val="4A4A4A"/>
                </a:solidFill>
                <a:latin typeface="Tajawal"/>
              </a:rPr>
              <a:t>العلاجية</a:t>
            </a:r>
            <a:endParaRPr b="0" dirty="0">
              <a:solidFill>
                <a:srgbClr val="4A4A4A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0B5571-205E-4214-9A27-972B2766CC3D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EFEFE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30C3C-23EB-4956-B2B8-1B1F878034BF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AC606-29A9-4384-9AAF-8CC0B7800247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EFEFE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CC5D2-7A3B-43B3-84F3-85A6C06EA8C2}"/>
              </a:ext>
            </a:extLst>
          </p:cNvPr>
          <p:cNvSpPr txBox="1"/>
          <p:nvPr/>
        </p:nvSpPr>
        <p:spPr>
          <a:xfrm>
            <a:off x="3953021" y="2672862"/>
            <a:ext cx="57255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251366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Cairo</vt:lpstr>
      <vt:lpstr>Calibri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eyad</dc:creator>
  <cp:keywords/>
  <dc:description>generated using python-pptx</dc:description>
  <cp:lastModifiedBy>eyad</cp:lastModifiedBy>
  <cp:revision>3</cp:revision>
  <dcterms:created xsi:type="dcterms:W3CDTF">2013-01-27T09:14:16Z</dcterms:created>
  <dcterms:modified xsi:type="dcterms:W3CDTF">2026-01-19T17:02:26Z</dcterms:modified>
  <cp:category/>
</cp:coreProperties>
</file>